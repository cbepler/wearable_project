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ArialBlack-regular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 Black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LYRA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9202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Wearable Music Interface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468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glove-based musical instrument for the modern musician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443484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Andrew McKnight  ·  HCI Lead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Maanav Allampallam  ·  Communications Lead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Shaan Yadav  ·  Hardware Lead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Christian Bepler  ·  Software Lead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858000" y="44805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ECE 469  ·  Final Presentation  · 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11480" y="2286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Motivation &amp; Contribution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74320" y="868680"/>
            <a:ext cx="4069080" cy="173736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D1E9F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274320" y="868680"/>
            <a:ext cx="64008" cy="17373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38912" y="10058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38912" y="1344168"/>
            <a:ext cx="3813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Musical instruments are expensive and bulky. Musicians can't explore multiple instruments affordably, and inspiration strikes when instruments aren't available.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617720" y="868680"/>
            <a:ext cx="4069080" cy="173736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D1E9F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617720" y="868680"/>
            <a:ext cx="64008" cy="17373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782312" y="10058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Why Now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782312" y="1344168"/>
            <a:ext cx="3813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Miniaturized sensors (IMU, flex) and BLE SoCs are cheaper and smaller than ever, enabling a wearable instrument that fits in a pocket.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74320" y="2743200"/>
            <a:ext cx="4069080" cy="173736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D1E9F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74320" y="2743200"/>
            <a:ext cx="64008" cy="17373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38912" y="28803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Who Benefits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38912" y="3218688"/>
            <a:ext cx="3813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Aspiring musicians exploring instruments without financial commitment. Touring musicians who can't bring every instrument. Anyone who needs to practice on the go.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617720" y="2743200"/>
            <a:ext cx="4069080" cy="173736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D1E9F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617720" y="2743200"/>
            <a:ext cx="64008" cy="1737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782312" y="28803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Our Contribution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782312" y="3218688"/>
            <a:ext cx="381304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single-glove wearable that translates hand gestures and finger flexion into musical notes — one device, multiple instruments, no cost barrier.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11480" y="22860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MVP Requirements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274320" y="868680"/>
            <a:ext cx="4069080" cy="3931920"/>
          </a:xfrm>
          <a:prstGeom prst="rect">
            <a:avLst/>
          </a:prstGeom>
          <a:solidFill>
            <a:srgbClr val="0F1117"/>
          </a:solidFill>
          <a:ln cap="flat" cmpd="sng" w="12700">
            <a:solidFill>
              <a:srgbClr val="0F11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274320" y="868680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✓  MINIMUM VIABLE PRODUCT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14173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60120" y="14356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Wearable Glove Device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60120" y="171907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Flex sensors on all 5 fingers + BLE SoC (Seeed Xiao Sense) embedded in a fabric glove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251460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960120" y="25328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Laptop Web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960120" y="281635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Receives sensor data over BLE WebBluetooth API; renders UI and generates sound in-browser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960120" y="36301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Distinct Musical Functions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960120" y="391363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Finger flex → note trigger; gyroscope → pitch/expression; multi-finger chords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617720" y="868680"/>
            <a:ext cx="4251960" cy="393192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D1E9F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617720" y="868680"/>
            <a:ext cx="4251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★  STRETCH GOALS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754880" y="14630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102352" y="143560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Multiple Instrument 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102352" y="170992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Piano, drum pads, theremin-style pitch control — selectable in-app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754880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102352" y="225856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User-Customizable Bindings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102352" y="253288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Freely bind any finger or gesture to any note, chord, or instrument parameter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754880" y="31089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102352" y="308152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Reduced Form Factor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102352" y="335584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PCB integration to shrink the circuit footprint; battery on glove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754880" y="3931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102352" y="39044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Two-Glove Expansion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102352" y="41788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Second glove with inter-glove BLE communication for richer expression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617720" y="4773168"/>
            <a:ext cx="4251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✓ Achieved    ○ Not yet implemented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11480" y="16459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74320" y="7315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394960" y="7315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74320" y="1097280"/>
            <a:ext cx="201168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320040" y="1133856"/>
            <a:ext cx="19202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Flex Sensors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(×5, one per finger)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6"/>
          <p:cNvCxnSpPr/>
          <p:nvPr/>
        </p:nvCxnSpPr>
        <p:spPr>
          <a:xfrm>
            <a:off x="2286000" y="1481328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6"/>
          <p:cNvSpPr/>
          <p:nvPr/>
        </p:nvSpPr>
        <p:spPr>
          <a:xfrm>
            <a:off x="274320" y="2148840"/>
            <a:ext cx="201168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320040" y="2185416"/>
            <a:ext cx="19202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IMU / Gyroscope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(LSM6DS3, 6-axis)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6"/>
          <p:cNvCxnSpPr/>
          <p:nvPr/>
        </p:nvCxnSpPr>
        <p:spPr>
          <a:xfrm>
            <a:off x="2286000" y="2532888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6"/>
          <p:cNvSpPr/>
          <p:nvPr/>
        </p:nvSpPr>
        <p:spPr>
          <a:xfrm>
            <a:off x="274320" y="3200400"/>
            <a:ext cx="201168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320040" y="3236976"/>
            <a:ext cx="19202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LiPo Battery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(3.7V, portable)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6"/>
          <p:cNvCxnSpPr/>
          <p:nvPr/>
        </p:nvCxnSpPr>
        <p:spPr>
          <a:xfrm>
            <a:off x="2286000" y="3584448"/>
            <a:ext cx="640080" cy="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6"/>
          <p:cNvSpPr/>
          <p:nvPr/>
        </p:nvSpPr>
        <p:spPr>
          <a:xfrm>
            <a:off x="2926080" y="1097280"/>
            <a:ext cx="2377440" cy="2880360"/>
          </a:xfrm>
          <a:prstGeom prst="rect">
            <a:avLst/>
          </a:prstGeom>
          <a:solidFill>
            <a:srgbClr val="0D2436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2944368" y="1115568"/>
            <a:ext cx="2340864" cy="2843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Seeed Xiao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BLE Sense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Reads ADC (flex)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Reads IMU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Formats CSV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Transmits via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BLE UART NUS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926080" y="109728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MCU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6"/>
          <p:cNvCxnSpPr/>
          <p:nvPr/>
        </p:nvCxnSpPr>
        <p:spPr>
          <a:xfrm>
            <a:off x="5303520" y="253746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6"/>
          <p:cNvSpPr/>
          <p:nvPr/>
        </p:nvSpPr>
        <p:spPr>
          <a:xfrm>
            <a:off x="5321808" y="2286000"/>
            <a:ext cx="603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858000" y="1097280"/>
            <a:ext cx="201168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876288" y="1133856"/>
            <a:ext cx="1975104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(BLE → HTTP POST)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6"/>
          <p:cNvCxnSpPr/>
          <p:nvPr/>
        </p:nvCxnSpPr>
        <p:spPr>
          <a:xfrm>
            <a:off x="5943600" y="148132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6"/>
          <p:cNvSpPr/>
          <p:nvPr/>
        </p:nvSpPr>
        <p:spPr>
          <a:xfrm>
            <a:off x="6858000" y="2148840"/>
            <a:ext cx="201168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876288" y="2185416"/>
            <a:ext cx="1975104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FastAPI/uvicorn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(/sensor + /ws)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6"/>
          <p:cNvCxnSpPr/>
          <p:nvPr/>
        </p:nvCxnSpPr>
        <p:spPr>
          <a:xfrm rot="10800000">
            <a:off x="7863840" y="169164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6"/>
          <p:cNvCxnSpPr/>
          <p:nvPr/>
        </p:nvCxnSpPr>
        <p:spPr>
          <a:xfrm>
            <a:off x="5943600" y="253288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6"/>
          <p:cNvSpPr/>
          <p:nvPr/>
        </p:nvSpPr>
        <p:spPr>
          <a:xfrm>
            <a:off x="6858000" y="3200400"/>
            <a:ext cx="2011680" cy="77724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876288" y="3236976"/>
            <a:ext cx="1975104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Web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(Tone.js, sound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generation + UI)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6"/>
          <p:cNvCxnSpPr/>
          <p:nvPr/>
        </p:nvCxnSpPr>
        <p:spPr>
          <a:xfrm rot="10800000">
            <a:off x="7863840" y="27432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6"/>
          <p:cNvCxnSpPr/>
          <p:nvPr/>
        </p:nvCxnSpPr>
        <p:spPr>
          <a:xfrm>
            <a:off x="5943600" y="35844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6"/>
          <p:cNvCxnSpPr/>
          <p:nvPr/>
        </p:nvCxnSpPr>
        <p:spPr>
          <a:xfrm>
            <a:off x="7863840" y="187452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6"/>
          <p:cNvCxnSpPr/>
          <p:nvPr/>
        </p:nvCxnSpPr>
        <p:spPr>
          <a:xfrm>
            <a:off x="7863840" y="292608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Technical Deep Dive: BLE Communication Pipeline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11480" y="66751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Challenging module: Real-time, low-latency wireless sensor streaming over Bluetooth Low Energy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274320" y="1051560"/>
            <a:ext cx="64008" cy="8686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57200" y="1216152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051560" y="1143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ADC + IMU Sampling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051560" y="1417320"/>
            <a:ext cx="7726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Seeed Xiao Sense reads 5 flex sensor ADCs at 12-bit precision and IMU (Gx, Gy, Gz, Ax, Ay, Az) via I2C. Raw IMU data is fused via a complementary filter (α=0.98) into Roll/Pitch/Yaw before transmission. Key fix: default 10-bit ADC divided resistance range by 4 — switching to 12-bit precision fixed missed bend detection.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74320" y="2011680"/>
            <a:ext cx="859536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74320" y="2011680"/>
            <a:ext cx="64008" cy="8686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57200" y="217627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051560" y="21031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CSV Formatting &amp; BLE TX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051560" y="2377440"/>
            <a:ext cx="7726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 serialized as comma-separated ASCII: 'ROLL,PITCH,YAW,ACCEL_MAG,R0,...,R4\n' (complementary-filter angles in degrees + flex resistances in Ω). Transmitted via Nordic UART Service (NUS) over BLE at 100 Hz. BLE connection interval set to 7.5–15 ms for low-latency response.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274320" y="2971800"/>
            <a:ext cx="859536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274320" y="2971800"/>
            <a:ext cx="64008" cy="8686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57200" y="313639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051560" y="3063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Python Receiver &amp; FastAPI HTTP Bridge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051560" y="3337560"/>
            <a:ext cx="7726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Python script (bleak library) subscribes to NUS TX characteristic. On notification, buffers bytes and splits on newline. Parses CSV into a JSON dict and POSTs it to the FastAPI /sensor endpoint via httpx. Switched from Arduino serial (buggy) to independent Python process.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274320" y="3931920"/>
            <a:ext cx="64008" cy="86868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57200" y="4096512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051560" y="4023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Web App Sound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51560" y="4297680"/>
            <a:ext cx="7726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Browser connects to FastAPI WebSocket (/ws), receives sensor frames event-driven at up to 100 Hz. User-configured bindings map sensor values to notes/chords. Tone.js synthesizes audio. In digital mode: flex ≥ threshold triggers note-on per finger. In analog mode: configurable sensor axes drive pitch, volume, and timbre continuously.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20040" y="4855464"/>
            <a:ext cx="8503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Key result: Bend detection accuracy fixed by upgrading ADC to 12-bit (4095 steps vs. 1023). End-to-end latency (∼80 ms) dominated by BLE connection interval (set to 7.5–15 ms). Console print throttle (PRINT_INTERVAL) is cosmetic — all sensor packets are always forwarded to the server.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11480" y="16459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BLE Receiver — Key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274320" y="731520"/>
            <a:ext cx="5029200" cy="4114800"/>
          </a:xfrm>
          <a:prstGeom prst="rect">
            <a:avLst/>
          </a:prstGeom>
          <a:solidFill>
            <a:srgbClr val="0D2436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65760" y="822960"/>
            <a:ext cx="484632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DEVICE_NAME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"HandMusic"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NUS_TX_CHAR</a:t>
            </a:r>
            <a:r>
              <a:rPr b="0" i="0" lang="en-US" sz="10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= "6e400003..."</a:t>
            </a:r>
            <a:br>
              <a:rPr b="0" i="0" lang="en-US" sz="10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_buffer = ""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1050" u="none" cap="none" strike="noStrike">
                <a:solidFill>
                  <a:srgbClr val="90E0EF"/>
                </a:solidFill>
                <a:latin typeface="Consolas"/>
                <a:ea typeface="Consolas"/>
                <a:cs typeface="Consolas"/>
                <a:sym typeface="Consolas"/>
              </a:rPr>
              <a:t>on_notification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(sender, data: bytearray):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global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_buffer, _last_print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_buffer </a:t>
            </a:r>
            <a:r>
              <a:rPr b="0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+=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data.decode("utf-8", errors="replace")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while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"\n" in _buffer: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line, _buffer</a:t>
            </a:r>
            <a:r>
              <a:rPr b="0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_buffer.split("\n", 1)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line </a:t>
            </a:r>
            <a:r>
              <a:rPr b="0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line.strip()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    if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line: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now </a:t>
            </a:r>
            <a:r>
              <a:rPr b="0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time.time()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# Throttle only the console print (not in data path)</a:t>
            </a:r>
            <a:br>
              <a:rPr b="0" i="0" lang="en-US" sz="105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_send_to_server(packet)  # HTTP POST to FastAPI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8"/>
          <p:cNvCxnSpPr/>
          <p:nvPr/>
        </p:nvCxnSpPr>
        <p:spPr>
          <a:xfrm>
            <a:off x="5303520" y="100584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8"/>
          <p:cNvSpPr/>
          <p:nvPr/>
        </p:nvSpPr>
        <p:spPr>
          <a:xfrm>
            <a:off x="5669280" y="841248"/>
            <a:ext cx="3154680" cy="329184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5715000" y="859536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NUS UART characteristic UUID — standard BLE UART profile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8"/>
          <p:cNvCxnSpPr/>
          <p:nvPr/>
        </p:nvCxnSpPr>
        <p:spPr>
          <a:xfrm>
            <a:off x="5303520" y="192024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8"/>
          <p:cNvSpPr/>
          <p:nvPr/>
        </p:nvSpPr>
        <p:spPr>
          <a:xfrm>
            <a:off x="5669280" y="1755648"/>
            <a:ext cx="3154680" cy="329184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5715000" y="1773936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Stream arrives in chunks — buffer + split on newline for complete frames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8"/>
          <p:cNvCxnSpPr/>
          <p:nvPr/>
        </p:nvCxnSpPr>
        <p:spPr>
          <a:xfrm>
            <a:off x="5303520" y="292608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8"/>
          <p:cNvSpPr/>
          <p:nvPr/>
        </p:nvSpPr>
        <p:spPr>
          <a:xfrm>
            <a:off x="5669280" y="2761488"/>
            <a:ext cx="3154680" cy="329184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715000" y="2779776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Print throttle (PRINT_INTERVAL) only slows console output — every packet is always forwarded to the server without delay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8"/>
          <p:cNvCxnSpPr/>
          <p:nvPr/>
        </p:nvCxnSpPr>
        <p:spPr>
          <a:xfrm>
            <a:off x="5303520" y="411480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8"/>
          <p:cNvSpPr/>
          <p:nvPr/>
        </p:nvSpPr>
        <p:spPr>
          <a:xfrm>
            <a:off x="5669280" y="3950208"/>
            <a:ext cx="3154680" cy="329184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715000" y="3968496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Each packet: 'ROLL,PITCH,YAW,ACCEL_MAG,R0,...,R4' → parsed into JSON dict, HTTP POSTed to FastAPI /sensor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411480" y="16459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Arial Black"/>
                <a:ea typeface="Arial Black"/>
                <a:cs typeface="Arial Black"/>
                <a:sym typeface="Arial Black"/>
              </a:rPr>
              <a:t>Prototype Demo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11480" y="62179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demonstration of MVP and additional functionalities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274320" y="1005840"/>
            <a:ext cx="4754880" cy="32004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320040" y="1051560"/>
            <a:ext cx="46634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 INSERT FINAL PROTOTYPE PHOTO OR VIDEO EMBED HERE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212080" y="10058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DEMO CHECKLIST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212080" y="1389888"/>
            <a:ext cx="3657600" cy="38404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5303520" y="1426464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623560" y="1453896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MVP: Finger flex → note trigger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212080" y="1865376"/>
            <a:ext cx="3657600" cy="38404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303520" y="1901952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623560" y="1929384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MVP: Multi-finger chord generation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212080" y="2340864"/>
            <a:ext cx="3657600" cy="38404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5303520" y="2377440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623560" y="2404872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MVP: Web app receives BLE in real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212080" y="2816352"/>
            <a:ext cx="3657600" cy="38404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5303520" y="2852928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623560" y="288036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Extra: Customizable finger-note bindings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212080" y="3291840"/>
            <a:ext cx="3657600" cy="38404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303520" y="3328416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623560" y="3355848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Extra: Gyroscope pitch expression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212080" y="3767328"/>
            <a:ext cx="3657600" cy="38404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5303520" y="3803904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623560" y="3831336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Extra: Multiple instrument types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274320" y="4315968"/>
            <a:ext cx="4754880" cy="54864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20040" y="4334256"/>
            <a:ext cx="4663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[ INSERT PRE-RECORDED VIDEO DEMO HERE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Replace placeholder above with embedded or linked demo video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41148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Ideal Product Vision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11480" y="658368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If we had unlimited resources and time — what Lyra becomes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274320" y="1051560"/>
            <a:ext cx="2834640" cy="1645920"/>
          </a:xfrm>
          <a:prstGeom prst="rect">
            <a:avLst/>
          </a:prstGeom>
          <a:solidFill>
            <a:srgbClr val="0D2436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274320" y="1051560"/>
            <a:ext cx="283464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11480" y="11887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Custom PCB &amp; Miniaturization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11480" y="1527048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Replace breadboard + protoboard with a purpose-built flexible PCB that conforms to the glove. Integrate BLE SoC, ADC mux, and power management on a single board weighing under 10g.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273552" y="1051560"/>
            <a:ext cx="2834640" cy="1645920"/>
          </a:xfrm>
          <a:prstGeom prst="rect">
            <a:avLst/>
          </a:prstGeom>
          <a:solidFill>
            <a:srgbClr val="0D2436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3273552" y="1051560"/>
            <a:ext cx="2834640" cy="7315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410712" y="11887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Two-Glove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3410712" y="1527048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Second glove adds left-hand control. Inter-glove BLE mesh lets the left hand control effects, modulation, and octave shift while the right hand plays notes — full expressive range.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272784" y="1051560"/>
            <a:ext cx="2834640" cy="1645920"/>
          </a:xfrm>
          <a:prstGeom prst="rect">
            <a:avLst/>
          </a:prstGeom>
          <a:solidFill>
            <a:srgbClr val="0D2436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272784" y="1051560"/>
            <a:ext cx="283464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409944" y="118872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Haptic Feedback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409944" y="1527048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LRA vibration motors in the fingertips provide tactile confirmation of note triggers — closing the sensory loop so the musician can "feel" their instrument.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274320" y="2862072"/>
            <a:ext cx="2834640" cy="1645920"/>
          </a:xfrm>
          <a:prstGeom prst="rect">
            <a:avLst/>
          </a:prstGeom>
          <a:solidFill>
            <a:srgbClr val="0D2436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274320" y="2862072"/>
            <a:ext cx="2834640" cy="7315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411480" y="299923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Standalone Operation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11480" y="3337560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Embedded audio DSP on the glove (e.g., RP2040 + I2S DAC) eliminates laptop dependency. Bluetooth speaker or IEM connection — fully wireless, pocketable instrument.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273552" y="2862072"/>
            <a:ext cx="2834640" cy="1645920"/>
          </a:xfrm>
          <a:prstGeom prst="rect">
            <a:avLst/>
          </a:prstGeom>
          <a:solidFill>
            <a:srgbClr val="0D2436"/>
          </a:solidFill>
          <a:ln cap="flat" cmpd="sng" w="190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3273552" y="2862072"/>
            <a:ext cx="2834640" cy="73152"/>
          </a:xfrm>
          <a:prstGeom prst="rect">
            <a:avLst/>
          </a:prstGeom>
          <a:solidFill>
            <a:srgbClr val="F43F5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3410712" y="299923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ML Gesture Recognition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410712" y="3337560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On-device tinyML model trained on player gestures enables complex gestures (vibrato, slides, strums) mapped to expressive parameters beyond simple threshold triggers.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6272784" y="2862072"/>
            <a:ext cx="2834640" cy="1645920"/>
          </a:xfrm>
          <a:prstGeom prst="rect">
            <a:avLst/>
          </a:prstGeom>
          <a:solidFill>
            <a:srgbClr val="0D2436"/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6272784" y="2862072"/>
            <a:ext cx="2834640" cy="73152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409944" y="299923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Instrument Marketplace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409944" y="3337560"/>
            <a:ext cx="2606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Community-driven plugin ecosystem — users share custom instrument mappings, effects chains, and gesture vocabularies. New instrument = new JSON config, not new hardware.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7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57200" y="16916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1"/>
          <p:cNvCxnSpPr/>
          <p:nvPr/>
        </p:nvCxnSpPr>
        <p:spPr>
          <a:xfrm>
            <a:off x="457200" y="2286000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1"/>
          <p:cNvSpPr/>
          <p:nvPr/>
        </p:nvSpPr>
        <p:spPr>
          <a:xfrm>
            <a:off x="457200" y="24231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Andrew McKnight</a:t>
            </a:r>
            <a: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  ·  HCI Lead</a:t>
            </a:r>
            <a:b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Maanav Allampallam</a:t>
            </a:r>
            <a: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  ·  Communications Lead</a:t>
            </a:r>
            <a:b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Shaan Yadav</a:t>
            </a:r>
            <a: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  ·  Hardware Lead</a:t>
            </a:r>
            <a:b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Christian Bepler</a:t>
            </a:r>
            <a: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  ·  Software Lead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ECE 469  ·  Duke University  · 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