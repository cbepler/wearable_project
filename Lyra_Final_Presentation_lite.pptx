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embeddedFontLst>
    <p:embeddedFont>
      <p:font typeface="Arial Black"/>
      <p:regular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font" Target="fonts/ArialBlack-regular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457200" y="64008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0"/>
              <a:buFont typeface="Arial Black"/>
              <a:buNone/>
            </a:pPr>
            <a:r>
              <a:rPr b="1" i="0" lang="en-US" sz="9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LYRA</a:t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57200" y="1920240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Wearable Music Interface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57200" y="246888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 glove-based musical instrument for the modern musician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57200" y="4434840"/>
            <a:ext cx="6400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Andrew McKnight  ·  HCI Lead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Maanav Allampallam  ·  Communications Lead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Shaan Yadav  ·  Hardware Lead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Christian Bepler  ·  Software Lead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6858000" y="448056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ECE 469  ·  Final Presentation  · 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411480" y="228600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Motivation &amp; Contribution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274320" y="868680"/>
            <a:ext cx="4069080" cy="1737360"/>
          </a:xfrm>
          <a:prstGeom prst="rect">
            <a:avLst/>
          </a:prstGeom>
          <a:solidFill>
            <a:srgbClr val="F0F9FF"/>
          </a:solidFill>
          <a:ln cap="flat" cmpd="sng" w="12700">
            <a:solidFill>
              <a:srgbClr val="D1E9F5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274320" y="868680"/>
            <a:ext cx="64008" cy="173736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438912" y="100584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The Problem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438912" y="1344168"/>
            <a:ext cx="381304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Musical instruments are expensive and bulky. Musicians can't explore multiple instruments affordably, and inspiration strikes when instruments aren't available.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617720" y="868680"/>
            <a:ext cx="4069080" cy="1737360"/>
          </a:xfrm>
          <a:prstGeom prst="rect">
            <a:avLst/>
          </a:prstGeom>
          <a:solidFill>
            <a:srgbClr val="F0F9FF"/>
          </a:solidFill>
          <a:ln cap="flat" cmpd="sng" w="12700">
            <a:solidFill>
              <a:srgbClr val="D1E9F5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4617720" y="868680"/>
            <a:ext cx="64008" cy="173736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4782312" y="100584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Why Now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4782312" y="1344168"/>
            <a:ext cx="381304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Miniaturized sensors (IMU, flex) and BLE SoCs are cheaper and smaller than ever, enabling a wearable instrument that fits in a pocket.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274320" y="2743200"/>
            <a:ext cx="4069080" cy="1737360"/>
          </a:xfrm>
          <a:prstGeom prst="rect">
            <a:avLst/>
          </a:prstGeom>
          <a:solidFill>
            <a:srgbClr val="F0F9FF"/>
          </a:solidFill>
          <a:ln cap="flat" cmpd="sng" w="12700">
            <a:solidFill>
              <a:srgbClr val="D1E9F5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274320" y="2743200"/>
            <a:ext cx="64008" cy="173736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438912" y="288036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Who Benefits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38912" y="3218688"/>
            <a:ext cx="381304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Aspiring musicians exploring instruments without financial commitment. Touring musicians who can't bring every instrument. Anyone who needs to practice on the go.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617720" y="2743200"/>
            <a:ext cx="4069080" cy="1737360"/>
          </a:xfrm>
          <a:prstGeom prst="rect">
            <a:avLst/>
          </a:prstGeom>
          <a:solidFill>
            <a:srgbClr val="F0F9FF"/>
          </a:solidFill>
          <a:ln cap="flat" cmpd="sng" w="12700">
            <a:solidFill>
              <a:srgbClr val="D1E9F5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4617720" y="2743200"/>
            <a:ext cx="64008" cy="173736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4782312" y="288036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Our Contribution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4782312" y="3218688"/>
            <a:ext cx="381304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 single-glove wearable that translates hand gestures and finger flexion into musical notes — one device, multiple instruments, no cost barrier.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411480" y="228600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MVP Requirements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274320" y="868680"/>
            <a:ext cx="4069080" cy="3931920"/>
          </a:xfrm>
          <a:prstGeom prst="rect">
            <a:avLst/>
          </a:prstGeom>
          <a:solidFill>
            <a:srgbClr val="0F1117"/>
          </a:solidFill>
          <a:ln cap="flat" cmpd="sng" w="12700">
            <a:solidFill>
              <a:srgbClr val="0F111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274320" y="868680"/>
            <a:ext cx="4069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✓  MINIMUM VIABLE PRODUCT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457200" y="1417320"/>
            <a:ext cx="411480" cy="4114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000"/>
              <a:buFont typeface="Arial Black"/>
              <a:buNone/>
            </a:pPr>
            <a:r>
              <a:rPr b="1" i="0" lang="en-US" sz="2000" u="none" cap="none" strike="noStrike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960120" y="143560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Wearable Glove Device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960120" y="1719072"/>
            <a:ext cx="3246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Flex sensors on all 5 fingers + BLE SoC (Seeed Xiao Sense) embedded in a fabric glove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457200" y="2514600"/>
            <a:ext cx="411480" cy="4114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000"/>
              <a:buFont typeface="Arial Black"/>
              <a:buNone/>
            </a:pPr>
            <a:r>
              <a:rPr b="1" i="0" lang="en-US" sz="2000" u="none" cap="none" strike="noStrike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960120" y="253288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Laptop Web App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960120" y="2816352"/>
            <a:ext cx="3246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Receives sensor data over BLE WebBluetooth API; renders UI and generates sound in-browser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457200" y="3611880"/>
            <a:ext cx="411480" cy="4114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000"/>
              <a:buFont typeface="Arial Black"/>
              <a:buNone/>
            </a:pPr>
            <a:r>
              <a:rPr b="1" i="0" lang="en-US" sz="2000" u="none" cap="none" strike="noStrike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960120" y="363016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Distinct Musical Functions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960120" y="3913632"/>
            <a:ext cx="3246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Finger flex → note trigger; gyroscope → pitch/expression; multi-finger chords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4617720" y="868680"/>
            <a:ext cx="4251960" cy="3931920"/>
          </a:xfrm>
          <a:prstGeom prst="rect">
            <a:avLst/>
          </a:prstGeom>
          <a:solidFill>
            <a:srgbClr val="F0F9FF"/>
          </a:solidFill>
          <a:ln cap="flat" cmpd="sng" w="12700">
            <a:solidFill>
              <a:srgbClr val="D1E9F5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4617720" y="868680"/>
            <a:ext cx="4251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7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77A8"/>
                </a:solidFill>
                <a:latin typeface="Calibri"/>
                <a:ea typeface="Calibri"/>
                <a:cs typeface="Calibri"/>
                <a:sym typeface="Calibri"/>
              </a:rPr>
              <a:t>★  STRETCH GOALS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4754880" y="146304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5102352" y="1435608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Multiple Instrument Types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5102352" y="1709928"/>
            <a:ext cx="3566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Piano, drum pads, theremin-style pitch control — selectable in-app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4754880" y="228600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5102352" y="2258568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User-Customizable Bindings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5102352" y="2532888"/>
            <a:ext cx="3566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Freely bind any finger or gesture to any note, chord, or instrument parameter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4754880" y="310896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○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5102352" y="3081528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Reduced Form Factor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5102352" y="3355848"/>
            <a:ext cx="3566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PCB integration to shrink the circuit footprint; battery on glove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4754880" y="393192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○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5102352" y="3904488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Two-Glove Expansion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5102352" y="4178808"/>
            <a:ext cx="3566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Second glove with inter-glove BLE communication for richer expression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4617720" y="4773168"/>
            <a:ext cx="4251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✓ Achieved    ○ Not yet implemented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411480" y="164592"/>
            <a:ext cx="8503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System Architecture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274320" y="73152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HARDWARE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5394960" y="73152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SOFTWARE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274320" y="1097280"/>
            <a:ext cx="2011680" cy="777240"/>
          </a:xfrm>
          <a:prstGeom prst="rect">
            <a:avLst/>
          </a:prstGeom>
          <a:solidFill>
            <a:srgbClr val="1E293B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320040" y="1133856"/>
            <a:ext cx="1920240" cy="70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Flex Sensors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(×5, one per finger)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" name="Google Shape;90;p6"/>
          <p:cNvCxnSpPr/>
          <p:nvPr/>
        </p:nvCxnSpPr>
        <p:spPr>
          <a:xfrm>
            <a:off x="2286000" y="1481328"/>
            <a:ext cx="640080" cy="0"/>
          </a:xfrm>
          <a:prstGeom prst="straightConnector1">
            <a:avLst/>
          </a:prstGeom>
          <a:noFill/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" name="Google Shape;91;p6"/>
          <p:cNvSpPr/>
          <p:nvPr/>
        </p:nvSpPr>
        <p:spPr>
          <a:xfrm>
            <a:off x="274320" y="2148840"/>
            <a:ext cx="2011680" cy="777240"/>
          </a:xfrm>
          <a:prstGeom prst="rect">
            <a:avLst/>
          </a:prstGeom>
          <a:solidFill>
            <a:srgbClr val="1E293B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320040" y="2185416"/>
            <a:ext cx="1920240" cy="70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IMU / Gyroscope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(LSM6DS3, 6-axis)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" name="Google Shape;93;p6"/>
          <p:cNvCxnSpPr/>
          <p:nvPr/>
        </p:nvCxnSpPr>
        <p:spPr>
          <a:xfrm>
            <a:off x="2286000" y="2532888"/>
            <a:ext cx="640080" cy="0"/>
          </a:xfrm>
          <a:prstGeom prst="straightConnector1">
            <a:avLst/>
          </a:prstGeom>
          <a:noFill/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6"/>
          <p:cNvSpPr/>
          <p:nvPr/>
        </p:nvSpPr>
        <p:spPr>
          <a:xfrm>
            <a:off x="274320" y="3200400"/>
            <a:ext cx="2011680" cy="777240"/>
          </a:xfrm>
          <a:prstGeom prst="rect">
            <a:avLst/>
          </a:prstGeom>
          <a:solidFill>
            <a:srgbClr val="1E293B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320040" y="3236976"/>
            <a:ext cx="1920240" cy="70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LiPo Battery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(3.7V, portable)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" name="Google Shape;96;p6"/>
          <p:cNvCxnSpPr/>
          <p:nvPr/>
        </p:nvCxnSpPr>
        <p:spPr>
          <a:xfrm>
            <a:off x="2286000" y="3584448"/>
            <a:ext cx="640080" cy="0"/>
          </a:xfrm>
          <a:prstGeom prst="straightConnector1">
            <a:avLst/>
          </a:prstGeom>
          <a:noFill/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6"/>
          <p:cNvSpPr/>
          <p:nvPr/>
        </p:nvSpPr>
        <p:spPr>
          <a:xfrm>
            <a:off x="2926080" y="1097280"/>
            <a:ext cx="2377440" cy="2880360"/>
          </a:xfrm>
          <a:prstGeom prst="rect">
            <a:avLst/>
          </a:prstGeom>
          <a:solidFill>
            <a:srgbClr val="0D2436"/>
          </a:solidFill>
          <a:ln cap="flat" cmpd="sng" w="254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2944368" y="1115568"/>
            <a:ext cx="2340864" cy="284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Seeed Xiao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BLE Sense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Reads ADC (flex)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Reads IMU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Formats CSV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Transmits via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BLE UART NUS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2926080" y="1097280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MCU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" name="Google Shape;100;p6"/>
          <p:cNvCxnSpPr/>
          <p:nvPr/>
        </p:nvCxnSpPr>
        <p:spPr>
          <a:xfrm>
            <a:off x="5303520" y="2537460"/>
            <a:ext cx="640080" cy="0"/>
          </a:xfrm>
          <a:prstGeom prst="straightConnector1">
            <a:avLst/>
          </a:prstGeom>
          <a:noFill/>
          <a:ln cap="flat" cmpd="sng" w="25400">
            <a:solidFill>
              <a:srgbClr val="90E0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" name="Google Shape;101;p6"/>
          <p:cNvSpPr/>
          <p:nvPr/>
        </p:nvSpPr>
        <p:spPr>
          <a:xfrm>
            <a:off x="5321808" y="2286000"/>
            <a:ext cx="6035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BLE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6858000" y="1097280"/>
            <a:ext cx="2011680" cy="777240"/>
          </a:xfrm>
          <a:prstGeom prst="rect">
            <a:avLst/>
          </a:prstGeom>
          <a:solidFill>
            <a:srgbClr val="1E293B"/>
          </a:solidFill>
          <a:ln cap="flat" cmpd="sng" w="19050">
            <a:solidFill>
              <a:srgbClr val="90E0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6876288" y="1133856"/>
            <a:ext cx="1975104" cy="70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Receiver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(BLE → HTTP POST)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" name="Google Shape;104;p6"/>
          <p:cNvCxnSpPr/>
          <p:nvPr/>
        </p:nvCxnSpPr>
        <p:spPr>
          <a:xfrm>
            <a:off x="5943600" y="1481328"/>
            <a:ext cx="914400" cy="0"/>
          </a:xfrm>
          <a:prstGeom prst="straightConnector1">
            <a:avLst/>
          </a:prstGeom>
          <a:noFill/>
          <a:ln cap="flat" cmpd="sng" w="15225">
            <a:solidFill>
              <a:srgbClr val="90E0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" name="Google Shape;105;p6"/>
          <p:cNvSpPr/>
          <p:nvPr/>
        </p:nvSpPr>
        <p:spPr>
          <a:xfrm>
            <a:off x="6858000" y="2148840"/>
            <a:ext cx="2011680" cy="777240"/>
          </a:xfrm>
          <a:prstGeom prst="rect">
            <a:avLst/>
          </a:prstGeom>
          <a:solidFill>
            <a:srgbClr val="1E293B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6876288" y="2185416"/>
            <a:ext cx="1975104" cy="70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FastAPI/uvicorn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(/sensor + /ws)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" name="Google Shape;107;p6"/>
          <p:cNvCxnSpPr/>
          <p:nvPr/>
        </p:nvCxnSpPr>
        <p:spPr>
          <a:xfrm rot="10800000">
            <a:off x="7863840" y="1691640"/>
            <a:ext cx="0" cy="457200"/>
          </a:xfrm>
          <a:prstGeom prst="straightConnector1">
            <a:avLst/>
          </a:prstGeom>
          <a:noFill/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" name="Google Shape;108;p6"/>
          <p:cNvCxnSpPr/>
          <p:nvPr/>
        </p:nvCxnSpPr>
        <p:spPr>
          <a:xfrm>
            <a:off x="5943600" y="2532888"/>
            <a:ext cx="914400" cy="0"/>
          </a:xfrm>
          <a:prstGeom prst="straightConnector1">
            <a:avLst/>
          </a:prstGeom>
          <a:noFill/>
          <a:ln cap="flat" cmpd="sng" w="152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" name="Google Shape;109;p6"/>
          <p:cNvSpPr/>
          <p:nvPr/>
        </p:nvSpPr>
        <p:spPr>
          <a:xfrm>
            <a:off x="6858000" y="3200400"/>
            <a:ext cx="2011680" cy="777240"/>
          </a:xfrm>
          <a:prstGeom prst="rect">
            <a:avLst/>
          </a:prstGeom>
          <a:solidFill>
            <a:srgbClr val="1E293B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6876288" y="3236976"/>
            <a:ext cx="1975104" cy="70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Web App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(Tone.js, sound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generation + UI)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Google Shape;111;p6"/>
          <p:cNvCxnSpPr/>
          <p:nvPr/>
        </p:nvCxnSpPr>
        <p:spPr>
          <a:xfrm rot="10800000">
            <a:off x="7863840" y="2743200"/>
            <a:ext cx="0" cy="457200"/>
          </a:xfrm>
          <a:prstGeom prst="straightConnector1">
            <a:avLst/>
          </a:prstGeom>
          <a:noFill/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" name="Google Shape;112;p6"/>
          <p:cNvCxnSpPr/>
          <p:nvPr/>
        </p:nvCxnSpPr>
        <p:spPr>
          <a:xfrm>
            <a:off x="5943600" y="3584448"/>
            <a:ext cx="914400" cy="0"/>
          </a:xfrm>
          <a:prstGeom prst="straightConnector1">
            <a:avLst/>
          </a:prstGeom>
          <a:noFill/>
          <a:ln cap="flat" cmpd="sng" w="15225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" name="Google Shape;113;p6"/>
          <p:cNvCxnSpPr/>
          <p:nvPr/>
        </p:nvCxnSpPr>
        <p:spPr>
          <a:xfrm>
            <a:off x="7863840" y="1874520"/>
            <a:ext cx="0" cy="274320"/>
          </a:xfrm>
          <a:prstGeom prst="straightConnector1">
            <a:avLst/>
          </a:prstGeom>
          <a:noFill/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" name="Google Shape;114;p6"/>
          <p:cNvCxnSpPr/>
          <p:nvPr/>
        </p:nvCxnSpPr>
        <p:spPr>
          <a:xfrm>
            <a:off x="7863840" y="2926080"/>
            <a:ext cx="0" cy="274320"/>
          </a:xfrm>
          <a:prstGeom prst="straightConnector1">
            <a:avLst/>
          </a:prstGeom>
          <a:noFill/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411480" y="164592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00"/>
              <a:buFont typeface="Arial Black"/>
              <a:buNone/>
            </a:pPr>
            <a:r>
              <a:rPr b="1" i="0" lang="en-US" sz="2400" u="none" cap="none" strike="noStrike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Technical Deep Dive: BLE Communication Pipeline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411480" y="667512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Challenging module: Real-time, low-latency wireless sensor streaming over Bluetooth Low Energy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274320" y="1051560"/>
            <a:ext cx="64008" cy="86868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457200" y="1216152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1051560" y="11430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ADC + IMU Sampling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1051560" y="1417320"/>
            <a:ext cx="7726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Seeed Xiao Sense reads 5 flex sensor ADCs at 12-bit precision and IMU (Gx, Gy, Gz, Ax, Ay, Az) via I2C. Raw IMU data is fused via a complementary filter (α=0.98) into Roll/Pitch/Yaw before transmission. Key fix: default 10-bit ADC divided resistance range by 4 — switching to 12-bit precision fixed missed bend detection.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274320" y="2011680"/>
            <a:ext cx="8595360" cy="86868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274320" y="2011680"/>
            <a:ext cx="64008" cy="86868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457200" y="2176272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1051560" y="210312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CSV Formatting &amp; BLE TX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1051560" y="2377440"/>
            <a:ext cx="7726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Data serialized as comma-separated ASCII: 'ROLL,PITCH,YAW,ACCEL_MAG,R0,...,R4\n' (complementary-filter angles in degrees + flex resistances in Ω). Transmitted via Nordic UART Service (NUS) over BLE at 100 Hz. BLE connection interval set to 7.5–15 ms for low-latency response.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274320" y="2971800"/>
            <a:ext cx="8595360" cy="86868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274320" y="2971800"/>
            <a:ext cx="64008" cy="86868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457200" y="3136392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1051560" y="306324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Python Receiver &amp; FastAPI HTTP Bridge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1051560" y="3337560"/>
            <a:ext cx="7726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Python script (bleak library) subscribes to NUS TX characteristic. On notification, buffers bytes and splits on newline. Parses CSV into a JSON dict and POSTs it to the FastAPI /sensor endpoint via httpx. Switched from Arduino serial (buggy) to independent Python process.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274320" y="3931920"/>
            <a:ext cx="8595360" cy="86868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274320" y="3931920"/>
            <a:ext cx="64008" cy="868680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457200" y="4096512"/>
            <a:ext cx="457200" cy="457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1051560" y="402336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Web App Sound Generation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1051560" y="4297680"/>
            <a:ext cx="7726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Browser connects to FastAPI WebSocket (/ws), receives sensor frames event-driven at up to 100 Hz. User-configured bindings map sensor values to notes/chords. Tone.js synthesizes audio. In digital mode: flex ≥ threshold triggers note-on per finger. In analog mode: configurable sensor axes drive pitch, volume, and timbre continuously.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274320" y="4846320"/>
            <a:ext cx="8595360" cy="182880"/>
          </a:xfrm>
          <a:prstGeom prst="rect">
            <a:avLst/>
          </a:prstGeom>
          <a:solidFill>
            <a:srgbClr val="DBEAFE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320040" y="4855464"/>
            <a:ext cx="8503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7A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0077A8"/>
                </a:solidFill>
                <a:latin typeface="Calibri"/>
                <a:ea typeface="Calibri"/>
                <a:cs typeface="Calibri"/>
                <a:sym typeface="Calibri"/>
              </a:rPr>
              <a:t>Key result: Bend detection accuracy fixed by upgrading ADC to 12-bit (4095 steps vs. 1023). End-to-end latency (∼80 ms) dominated by BLE connection interval (set to 7.5–15 ms). Console print throttle (PRINT_INTERVAL) is cosmetic — all sensor packets are always forwarded to the server.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411480" y="164592"/>
            <a:ext cx="8503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 Black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BLE Receiver — Key Implementation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274320" y="731520"/>
            <a:ext cx="5029200" cy="4114800"/>
          </a:xfrm>
          <a:prstGeom prst="rect">
            <a:avLst/>
          </a:prstGeom>
          <a:solidFill>
            <a:srgbClr val="0D2436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365760" y="822960"/>
            <a:ext cx="484632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50" lIns="1250" spcFirstLastPara="1" rIns="1250" wrap="square" tIns="1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DEVICE_NAME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= "HandMusic"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en-US" sz="1050" u="none" cap="none" strike="noStrik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NUS_TX_CHAR</a:t>
            </a:r>
            <a:r>
              <a:rPr b="0" i="0" lang="en-US" sz="105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 = "6e400003..."</a:t>
            </a:r>
            <a:br>
              <a:rPr b="0" i="0" lang="en-US" sz="105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05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_buffer = ""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en-US" sz="1050" u="none" cap="none" strike="noStrik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def </a:t>
            </a:r>
            <a:r>
              <a:rPr b="0" i="0" lang="en-US" sz="1050" u="none" cap="none" strike="noStrike">
                <a:solidFill>
                  <a:srgbClr val="90E0EF"/>
                </a:solidFill>
                <a:latin typeface="Consolas"/>
                <a:ea typeface="Consolas"/>
                <a:cs typeface="Consolas"/>
                <a:sym typeface="Consolas"/>
              </a:rPr>
              <a:t>on_notification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(sender, data: bytearray):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    global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_buffer, _last_print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_buffer </a:t>
            </a:r>
            <a:r>
              <a:rPr b="0" i="0" lang="en-US" sz="1050" u="none" cap="none" strike="noStrik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+=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data.decode("utf-8", errors="replace")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    while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"\n" in _buffer: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line, _buffer</a:t>
            </a:r>
            <a:r>
              <a:rPr b="0" i="0" lang="en-US" sz="1050" u="none" cap="none" strike="noStrik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_buffer.split("\n", 1)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line </a:t>
            </a:r>
            <a:r>
              <a:rPr b="0" i="0" lang="en-US" sz="1050" u="none" cap="none" strike="noStrik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line.strip()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        if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line: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now </a:t>
            </a:r>
            <a:r>
              <a:rPr b="0" i="0" lang="en-US" sz="1050" u="none" cap="none" strike="noStrik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time.time()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0" i="0" lang="en-US" sz="105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Throttle only the console print (not in data path)</a:t>
            </a:r>
            <a:br>
              <a:rPr b="0" i="0" lang="en-US" sz="105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_send_to_server(packet)  # HTTP POST to FastAPI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" name="Google Shape;154;p8"/>
          <p:cNvCxnSpPr/>
          <p:nvPr/>
        </p:nvCxnSpPr>
        <p:spPr>
          <a:xfrm>
            <a:off x="5303520" y="1005840"/>
            <a:ext cx="365760" cy="0"/>
          </a:xfrm>
          <a:prstGeom prst="straightConnector1">
            <a:avLst/>
          </a:prstGeom>
          <a:noFill/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" name="Google Shape;155;p8"/>
          <p:cNvSpPr/>
          <p:nvPr/>
        </p:nvSpPr>
        <p:spPr>
          <a:xfrm>
            <a:off x="5669280" y="841248"/>
            <a:ext cx="3154680" cy="329184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5715000" y="859536"/>
            <a:ext cx="3063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NUS UART characteristic UUID — standard BLE UART profile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7" name="Google Shape;157;p8"/>
          <p:cNvCxnSpPr/>
          <p:nvPr/>
        </p:nvCxnSpPr>
        <p:spPr>
          <a:xfrm>
            <a:off x="5303520" y="1920240"/>
            <a:ext cx="365760" cy="0"/>
          </a:xfrm>
          <a:prstGeom prst="straightConnector1">
            <a:avLst/>
          </a:prstGeom>
          <a:noFill/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8"/>
          <p:cNvSpPr/>
          <p:nvPr/>
        </p:nvSpPr>
        <p:spPr>
          <a:xfrm>
            <a:off x="5669280" y="1755648"/>
            <a:ext cx="3154680" cy="329184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5715000" y="1773936"/>
            <a:ext cx="3063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Stream arrives in chunks — buffer + split on newline for complete frames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" name="Google Shape;160;p8"/>
          <p:cNvCxnSpPr/>
          <p:nvPr/>
        </p:nvCxnSpPr>
        <p:spPr>
          <a:xfrm>
            <a:off x="5303520" y="2926080"/>
            <a:ext cx="365760" cy="0"/>
          </a:xfrm>
          <a:prstGeom prst="straightConnector1">
            <a:avLst/>
          </a:prstGeom>
          <a:noFill/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1" name="Google Shape;161;p8"/>
          <p:cNvSpPr/>
          <p:nvPr/>
        </p:nvSpPr>
        <p:spPr>
          <a:xfrm>
            <a:off x="5669280" y="2761488"/>
            <a:ext cx="3154680" cy="329184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5715000" y="2779776"/>
            <a:ext cx="3063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Print throttle (PRINT_INTERVAL) only slows console output — every packet is always forwarded to the server without delay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" name="Google Shape;163;p8"/>
          <p:cNvCxnSpPr/>
          <p:nvPr/>
        </p:nvCxnSpPr>
        <p:spPr>
          <a:xfrm>
            <a:off x="5303520" y="4114800"/>
            <a:ext cx="365760" cy="0"/>
          </a:xfrm>
          <a:prstGeom prst="straightConnector1">
            <a:avLst/>
          </a:prstGeom>
          <a:noFill/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4" name="Google Shape;164;p8"/>
          <p:cNvSpPr/>
          <p:nvPr/>
        </p:nvSpPr>
        <p:spPr>
          <a:xfrm>
            <a:off x="5669280" y="3950208"/>
            <a:ext cx="3154680" cy="329184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5715000" y="3968496"/>
            <a:ext cx="3063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Each packet: 'ROLL,PITCH,YAW,ACCEL_MAG,R0,...,R4' → parsed into JSON dict, HTTP POSTed to FastAPI /sensor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"/>
          <p:cNvSpPr/>
          <p:nvPr/>
        </p:nvSpPr>
        <p:spPr>
          <a:xfrm>
            <a:off x="411480" y="164592"/>
            <a:ext cx="8503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Prototype Demo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411480" y="621792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Live demonstration of MVP and additional functionalities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274320" y="1005840"/>
            <a:ext cx="4754880" cy="320040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"/>
          <p:cNvSpPr/>
          <p:nvPr/>
        </p:nvSpPr>
        <p:spPr>
          <a:xfrm>
            <a:off x="320040" y="1051560"/>
            <a:ext cx="466344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[ INSERT FINAL PROTOTYPE PHOTO OR VIDEO EMBED HERE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5212080" y="100584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7A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77A8"/>
                </a:solidFill>
                <a:latin typeface="Calibri"/>
                <a:ea typeface="Calibri"/>
                <a:cs typeface="Calibri"/>
                <a:sym typeface="Calibri"/>
              </a:rPr>
              <a:t>DEMO CHECKLIST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5212080" y="1389888"/>
            <a:ext cx="3657600" cy="384048"/>
          </a:xfrm>
          <a:prstGeom prst="rect">
            <a:avLst/>
          </a:prstGeom>
          <a:solidFill>
            <a:srgbClr val="F0FDF4"/>
          </a:solidFill>
          <a:ln cap="flat" cmpd="sng" w="12700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"/>
          <p:cNvSpPr/>
          <p:nvPr/>
        </p:nvSpPr>
        <p:spPr>
          <a:xfrm>
            <a:off x="5303520" y="1426464"/>
            <a:ext cx="274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5623560" y="1453896"/>
            <a:ext cx="3154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MVP: Finger flex → note trigger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5212080" y="1865376"/>
            <a:ext cx="3657600" cy="384048"/>
          </a:xfrm>
          <a:prstGeom prst="rect">
            <a:avLst/>
          </a:prstGeom>
          <a:solidFill>
            <a:srgbClr val="F0FDF4"/>
          </a:solidFill>
          <a:ln cap="flat" cmpd="sng" w="12700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"/>
          <p:cNvSpPr/>
          <p:nvPr/>
        </p:nvSpPr>
        <p:spPr>
          <a:xfrm>
            <a:off x="5303520" y="1901952"/>
            <a:ext cx="274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5623560" y="1929384"/>
            <a:ext cx="3154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MVP: Multi-finger chord generation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5212080" y="2340864"/>
            <a:ext cx="3657600" cy="384048"/>
          </a:xfrm>
          <a:prstGeom prst="rect">
            <a:avLst/>
          </a:prstGeom>
          <a:solidFill>
            <a:srgbClr val="F0FDF4"/>
          </a:solidFill>
          <a:ln cap="flat" cmpd="sng" w="12700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"/>
          <p:cNvSpPr/>
          <p:nvPr/>
        </p:nvSpPr>
        <p:spPr>
          <a:xfrm>
            <a:off x="5303520" y="2377440"/>
            <a:ext cx="274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5623560" y="2404872"/>
            <a:ext cx="3154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MVP: Web app receives BLE in real time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5212080" y="2816352"/>
            <a:ext cx="3657600" cy="384048"/>
          </a:xfrm>
          <a:prstGeom prst="rect">
            <a:avLst/>
          </a:prstGeom>
          <a:solidFill>
            <a:srgbClr val="F0FDF4"/>
          </a:solidFill>
          <a:ln cap="flat" cmpd="sng" w="12700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5303520" y="2852928"/>
            <a:ext cx="274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5623560" y="2880360"/>
            <a:ext cx="3154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Extra: Customizable finger-note bindings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5212080" y="3291840"/>
            <a:ext cx="3657600" cy="384048"/>
          </a:xfrm>
          <a:prstGeom prst="rect">
            <a:avLst/>
          </a:prstGeom>
          <a:solidFill>
            <a:srgbClr val="F0FDF4"/>
          </a:solidFill>
          <a:ln cap="flat" cmpd="sng" w="12700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"/>
          <p:cNvSpPr/>
          <p:nvPr/>
        </p:nvSpPr>
        <p:spPr>
          <a:xfrm>
            <a:off x="5303520" y="3328416"/>
            <a:ext cx="274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5623560" y="3355848"/>
            <a:ext cx="3154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Extra: Gyroscope pitch expression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5212080" y="3767328"/>
            <a:ext cx="3657600" cy="384048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5303520" y="3803904"/>
            <a:ext cx="274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5623560" y="3831336"/>
            <a:ext cx="3154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Extra: Multiple instrument types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274320" y="4315968"/>
            <a:ext cx="4754880" cy="548640"/>
          </a:xfrm>
          <a:prstGeom prst="rect">
            <a:avLst/>
          </a:prstGeom>
          <a:solidFill>
            <a:srgbClr val="FFF7ED"/>
          </a:solidFill>
          <a:ln cap="flat" cmpd="sng" w="12700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320040" y="4334256"/>
            <a:ext cx="46634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[ INSERT PRE-RECORDED VIDEO DEMO HERE 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Replace placeholder above with embedded or linked demo video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"/>
          <p:cNvSpPr/>
          <p:nvPr/>
        </p:nvSpPr>
        <p:spPr>
          <a:xfrm>
            <a:off x="411480" y="164592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Ideal Product Vision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411480" y="658368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If we had unlimited resources and time — what Lyra becomes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274320" y="1051560"/>
            <a:ext cx="2834640" cy="1645920"/>
          </a:xfrm>
          <a:prstGeom prst="rect">
            <a:avLst/>
          </a:prstGeom>
          <a:solidFill>
            <a:srgbClr val="0D2436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0"/>
          <p:cNvSpPr/>
          <p:nvPr/>
        </p:nvSpPr>
        <p:spPr>
          <a:xfrm>
            <a:off x="274320" y="1051560"/>
            <a:ext cx="2834640" cy="7315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"/>
          <p:cNvSpPr/>
          <p:nvPr/>
        </p:nvSpPr>
        <p:spPr>
          <a:xfrm>
            <a:off x="411480" y="1188720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Custom PCB &amp; Miniaturization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411480" y="1527048"/>
            <a:ext cx="26060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Replace breadboard + protoboard with a purpose-built flexible PCB that conforms to the glove. Integrate BLE SoC, ADC mux, and power management on a single board weighing under 10g.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3273552" y="1051560"/>
            <a:ext cx="2834640" cy="1645920"/>
          </a:xfrm>
          <a:prstGeom prst="rect">
            <a:avLst/>
          </a:prstGeom>
          <a:solidFill>
            <a:srgbClr val="0D2436"/>
          </a:solidFill>
          <a:ln cap="flat" cmpd="sng" w="1905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"/>
          <p:cNvSpPr/>
          <p:nvPr/>
        </p:nvSpPr>
        <p:spPr>
          <a:xfrm>
            <a:off x="3273552" y="1051560"/>
            <a:ext cx="2834640" cy="73152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"/>
          <p:cNvSpPr/>
          <p:nvPr/>
        </p:nvSpPr>
        <p:spPr>
          <a:xfrm>
            <a:off x="3410712" y="1188720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Two-Glove System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3410712" y="1527048"/>
            <a:ext cx="26060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Second glove adds left-hand control. Inter-glove BLE mesh lets the left hand control effects, modulation, and octave shift while the right hand plays notes — full expressive range.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6272784" y="1051560"/>
            <a:ext cx="2834640" cy="1645920"/>
          </a:xfrm>
          <a:prstGeom prst="rect">
            <a:avLst/>
          </a:prstGeom>
          <a:solidFill>
            <a:srgbClr val="0D2436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"/>
          <p:cNvSpPr/>
          <p:nvPr/>
        </p:nvSpPr>
        <p:spPr>
          <a:xfrm>
            <a:off x="6272784" y="1051560"/>
            <a:ext cx="2834640" cy="73152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"/>
          <p:cNvSpPr/>
          <p:nvPr/>
        </p:nvSpPr>
        <p:spPr>
          <a:xfrm>
            <a:off x="6409944" y="1188720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Haptic Feedback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6409944" y="1527048"/>
            <a:ext cx="26060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LRA vibration motors in the fingertips provide tactile confirmation of note triggers — closing the sensory loop so the musician can "feel" their instrument.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274320" y="2862072"/>
            <a:ext cx="2834640" cy="1645920"/>
          </a:xfrm>
          <a:prstGeom prst="rect">
            <a:avLst/>
          </a:prstGeom>
          <a:solidFill>
            <a:srgbClr val="0D2436"/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"/>
          <p:cNvSpPr/>
          <p:nvPr/>
        </p:nvSpPr>
        <p:spPr>
          <a:xfrm>
            <a:off x="274320" y="2862072"/>
            <a:ext cx="2834640" cy="73152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0"/>
          <p:cNvSpPr/>
          <p:nvPr/>
        </p:nvSpPr>
        <p:spPr>
          <a:xfrm>
            <a:off x="411480" y="2999232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Standalone Operation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411480" y="3337560"/>
            <a:ext cx="26060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Embedded audio DSP on the glove (e.g., RP2040 + I2S DAC) eliminates laptop dependency. Bluetooth speaker or IEM connection — fully wireless, pocketable instrument.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3273552" y="2862072"/>
            <a:ext cx="2834640" cy="1645920"/>
          </a:xfrm>
          <a:prstGeom prst="rect">
            <a:avLst/>
          </a:prstGeom>
          <a:solidFill>
            <a:srgbClr val="0D2436"/>
          </a:solidFill>
          <a:ln cap="flat" cmpd="sng" w="1905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"/>
          <p:cNvSpPr/>
          <p:nvPr/>
        </p:nvSpPr>
        <p:spPr>
          <a:xfrm>
            <a:off x="3273552" y="2862072"/>
            <a:ext cx="2834640" cy="73152"/>
          </a:xfrm>
          <a:prstGeom prst="rect">
            <a:avLst/>
          </a:prstGeom>
          <a:solidFill>
            <a:srgbClr val="F43F5E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"/>
          <p:cNvSpPr/>
          <p:nvPr/>
        </p:nvSpPr>
        <p:spPr>
          <a:xfrm>
            <a:off x="3410712" y="2999232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43F5E"/>
                </a:solidFill>
                <a:latin typeface="Calibri"/>
                <a:ea typeface="Calibri"/>
                <a:cs typeface="Calibri"/>
                <a:sym typeface="Calibri"/>
              </a:rPr>
              <a:t>ML Gesture Recognition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3410712" y="3337560"/>
            <a:ext cx="26060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On-device tinyML model trained on player gestures enables complex gestures (vibrato, slides, strums) mapped to expressive parameters beyond simple threshold triggers.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6272784" y="2862072"/>
            <a:ext cx="2834640" cy="1645920"/>
          </a:xfrm>
          <a:prstGeom prst="rect">
            <a:avLst/>
          </a:prstGeom>
          <a:solidFill>
            <a:srgbClr val="0D2436"/>
          </a:solidFill>
          <a:ln cap="flat" cmpd="sng" w="1905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"/>
          <p:cNvSpPr/>
          <p:nvPr/>
        </p:nvSpPr>
        <p:spPr>
          <a:xfrm>
            <a:off x="6272784" y="2862072"/>
            <a:ext cx="2834640" cy="73152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6409944" y="2999232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Instrument Marketplace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6409944" y="3337560"/>
            <a:ext cx="26060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Community-driven plugin ecosystem — users share custom instrument mappings, effects chains, and gesture vocabularies. New instrument = new JSON config, not new hardware.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1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 Black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Thank You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457200" y="169164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Questions &amp; Discussion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8" name="Google Shape;238;p11"/>
          <p:cNvCxnSpPr/>
          <p:nvPr/>
        </p:nvCxnSpPr>
        <p:spPr>
          <a:xfrm>
            <a:off x="457200" y="2286000"/>
            <a:ext cx="5486400" cy="0"/>
          </a:xfrm>
          <a:prstGeom prst="straightConnector1">
            <a:avLst/>
          </a:prstGeom>
          <a:noFill/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9" name="Google Shape;239;p11"/>
          <p:cNvSpPr/>
          <p:nvPr/>
        </p:nvSpPr>
        <p:spPr>
          <a:xfrm>
            <a:off x="457200" y="2423160"/>
            <a:ext cx="5486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Andrew McKnight</a:t>
            </a:r>
            <a:r>
              <a:rPr b="0" i="0" lang="en-US" sz="13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  ·  HCI Lead</a:t>
            </a:r>
            <a:br>
              <a:rPr b="0" i="0" lang="en-US" sz="13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Maanav Allampallam</a:t>
            </a:r>
            <a:r>
              <a:rPr b="0" i="0" lang="en-US" sz="13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  ·  Communications Lead</a:t>
            </a:r>
            <a:br>
              <a:rPr b="0" i="0" lang="en-US" sz="13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Shaan Yadav</a:t>
            </a:r>
            <a:r>
              <a:rPr b="0" i="0" lang="en-US" sz="13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  ·  Hardware Lead</a:t>
            </a:r>
            <a:br>
              <a:rPr b="0" i="0" lang="en-US" sz="13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Christian Bepler</a:t>
            </a:r>
            <a:r>
              <a:rPr b="0" i="0" lang="en-US" sz="13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  ·  Software Lead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457200" y="448056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ECE 469  ·  Duke University  · 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